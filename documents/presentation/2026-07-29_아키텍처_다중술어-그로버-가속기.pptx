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400" b="1">
                <a:solidFill>
                  <a:srgbClr val="1F3864"/>
                </a:solidFill>
                <a:latin typeface="맑은 고딕"/>
              </a:defRPr>
            </a:pPr>
            <a:r>
              <a:t>다중 오라클, 다중 탐색</a:t>
            </a:r>
            <a:br/>
            <a:r>
              <a:t>그로버 알고리즘 아키텍쳐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611880"/>
            <a:ext cx="292608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56270"/>
                </a:solidFill>
                <a:latin typeface="맑은 고딕"/>
              </a:defRPr>
            </a:pPr>
            <a:r>
              <a:t>조건 검색(&lt;, &gt;, =, 범위)을 만족하는 다중 타겟 Grover 가속기 — 스펙 결정</a:t>
            </a:r>
          </a:p>
          <a:p>
            <a:pPr>
              <a:spcAft>
                <a:spcPts val="600"/>
              </a:spcAft>
              <a:defRPr sz="1500" b="0">
                <a:solidFill>
                  <a:srgbClr val="556270"/>
                </a:solidFill>
                <a:latin typeface="맑은 고딕"/>
              </a:defRPr>
            </a:pPr>
            <a:r>
              <a:t>대상 FPGA : Spartan-7 XC7S100    |    보드 모델 확인 필요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6060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FB4DC"/>
                </a:solidFill>
                <a:latin typeface="맑은 고딕"/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54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결정사항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206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9CEE6"/>
                </a:solidFill>
                <a:latin typeface="맑은 고딕"/>
              </a:defRPr>
            </a:pPr>
            <a:r>
              <a:t>무엇을 먼저 정해야 하는가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가속의 용도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4" cy="1297940"/>
        </p:xfrm>
        <a:graphic>
          <a:graphicData uri="http://schemas.openxmlformats.org/drawingml/2006/table">
            <a:tbl>
              <a:tblPr firstRow="0" bandRow="0"/>
              <a:tblGrid>
                <a:gridCol w="2400537"/>
                <a:gridCol w="6874267"/>
                <a:gridCol w="1636730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A. 시뮬레이터 가속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같은 양자 알고리즘을 PC보다 빠르게 시뮬레이션한다.</a:t>
                      </a:r>
                    </a:p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비교 대상은 Qiskit AerSimulator / NumPy 상태벡터 시뮬레이터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채택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B. 알고리즘 프로토타이핑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실기 없이 조건 오라클이 수렴하는지 확인한다.</a:t>
                      </a:r>
                    </a:p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단 게이트 수준 검증은 불가 — 에뮬레이터의 오라클은 양자회로가 아니라 비교기 + 부호 반전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보조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788412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고전 선형 스캔과는 비교하지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10052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고전 검색은 O(N)이고 Grover 에뮬레이션은 O(N·√(N/M))이라, 이 가속기는 고전 스캔보다 느리다.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가속 대상은 어디까지나 'PC에서 돌리는 양자 시뮬레이터'다.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발표에서 반드시 나오는 질문이므로 입장을 먼저 고정한다.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문제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2" cy="2892044"/>
        </p:xfrm>
        <a:graphic>
          <a:graphicData uri="http://schemas.openxmlformats.org/drawingml/2006/table">
            <a:tbl>
              <a:tblPr firstRow="0" bandRow="0"/>
              <a:tblGrid>
                <a:gridCol w="436461"/>
                <a:gridCol w="1527614"/>
                <a:gridCol w="3709921"/>
                <a:gridCol w="2509653"/>
                <a:gridCol w="2727883"/>
              </a:tblGrid>
              <a:tr h="2961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연관된 자원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검색 대상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온칩 데이터 배열 value[i]     (b) 인덱스의 함수 f(i)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BRAM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지원 조건문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&lt; / &gt; / = / 범위 a&lt;x&lt;b / 다중 키 AND·OR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4종 (범위 포함)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비교기 개수, 임계값 레지스터 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출력의 정의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조건 만족 원소 하나   (b) 전부 열거   (c) 개수 M 추정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+ 반복호출로 (b)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전부 열거하면 구조가 달라짐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정답 개수를 아는가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호스트가 사전 카운트   (b) BBHT로 모른 채 탐색   (c) 양자 카운팅(QPE)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(b) BBHT 기본</a:t>
                      </a:r>
                    </a:p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(a)도 비교용으로 구현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(c)는 복소수 강제 → 제외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검색 정확도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ℓ2 노름 오차   (b) argmax 성공률   (c) top-M 회수율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(b) ≥ 99%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비트폭 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가속의 용도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A. 시뮬레이터 가속        B. 알고리즘 프로토타이핑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벤치마크 baseline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출력의 정의 ①  —  다중 정답은 서로 구별되지 않는다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예시 :  N = 8,  술어 x = 12   →   정답 {1, 3, 5},  즉 M =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37208"/>
          <a:ext cx="10911533" cy="841248"/>
        </p:xfrm>
        <a:graphic>
          <a:graphicData uri="http://schemas.openxmlformats.org/drawingml/2006/table">
            <a:tbl>
              <a:tblPr firstRow="0" bandRow="0"/>
              <a:tblGrid>
                <a:gridCol w="1745845"/>
                <a:gridCol w="1145711"/>
                <a:gridCol w="1145711"/>
                <a:gridCol w="1145711"/>
                <a:gridCol w="1145711"/>
                <a:gridCol w="1145711"/>
                <a:gridCol w="1145711"/>
                <a:gridCol w="1145711"/>
                <a:gridCol w="1145711"/>
              </a:tblGrid>
              <a:tr h="2804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인덱스 i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value[i]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정답?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579624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Grover 1회 반복 후  (R = 1 이 최적)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928112"/>
          <a:ext cx="10911533" cy="841248"/>
        </p:xfrm>
        <a:graphic>
          <a:graphicData uri="http://schemas.openxmlformats.org/drawingml/2006/table">
            <a:tbl>
              <a:tblPr firstRow="0" bandRow="0"/>
              <a:tblGrid>
                <a:gridCol w="1745845"/>
                <a:gridCol w="1145711"/>
                <a:gridCol w="1145711"/>
                <a:gridCol w="1145711"/>
                <a:gridCol w="1145711"/>
                <a:gridCol w="1145711"/>
                <a:gridCol w="1145711"/>
                <a:gridCol w="1145711"/>
                <a:gridCol w="1145711"/>
              </a:tblGrid>
              <a:tr h="2804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인덱스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−0.1768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0.5303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−0.1768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0.5303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−0.1768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0.5303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−0.1768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−0.1768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확률 a²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1/32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970527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· 세 정답의 진폭이 0.5303으로 정확히 같다. 오라클이 셋 다 똑같이 뒤집고 확산이 셋 다 똑같이 증폭하므로 대칭이 깨지지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66691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argmax 회로는 항상 인덱스 1만 반환한다. 몇 번을 다시 돌려도 1이고, 3과 5는 영원히 못 찾는다.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출력을 '전부 열거'로 정하면 측정 방식(S3-5)부터 바꿔야 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출력의 정의 ②  —  열거하는 두 가지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4" cy="1156208"/>
        </p:xfrm>
        <a:graphic>
          <a:graphicData uri="http://schemas.openxmlformats.org/drawingml/2006/table">
            <a:tbl>
              <a:tblPr firstRow="0" bandRow="0"/>
              <a:tblGrid>
                <a:gridCol w="2182307"/>
                <a:gridCol w="6110459"/>
                <a:gridCol w="2618768"/>
              </a:tblGrid>
              <a:tr h="311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방식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3238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A. Born 확률 샘플링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 크기에 비례해 무작위로 뽑고 중복을 버리며 모은다.  위 예에서 1, 3, 5가 각각 9/32 확률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쿠폰 수집가 문제 —</a:t>
                      </a:r>
                    </a:p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중복 뽑기가 낭비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1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B. 마스킹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찾은 해를 오라클 조건에서 제외한다.      if (조건(i) &amp;&amp; !found[i])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중복 없음 — 채택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610104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방법 B로 위 예시를 끝까지 돌리면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958592"/>
          <a:ext cx="10911533" cy="1591056"/>
        </p:xfrm>
        <a:graphic>
          <a:graphicData uri="http://schemas.openxmlformats.org/drawingml/2006/table">
            <a:tbl>
              <a:tblPr firstRow="0" bandRow="0"/>
              <a:tblGrid>
                <a:gridCol w="982038"/>
                <a:gridCol w="1745845"/>
                <a:gridCol w="654692"/>
                <a:gridCol w="654692"/>
                <a:gridCol w="1091153"/>
                <a:gridCol w="5783113"/>
              </a:tblGrid>
              <a:tr h="2804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라운드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마킹되는 집합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R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성공률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{1, 3, 5}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84.4%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 발견  →  found[1] = 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{3, 5}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 발견  →  found[3] = 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{5}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94.5%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 발견  →  found[5] = 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9392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{ }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오라클이 아무것도 안 뒤집음 → 균등상태 유지</a:t>
                      </a:r>
                    </a:p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→ 무작위 인덱스 → 고전 검증 실패 → 종료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77663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4라운드의 '더 이상 없다'를 어떻게 판정할지가 새로 생기는 설계 문제다.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출력의 정의 ③  —  하드웨어 비용은 작고, 시간 비용은 크다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4" cy="2073148"/>
        </p:xfrm>
        <a:graphic>
          <a:graphicData uri="http://schemas.openxmlformats.org/drawingml/2006/table">
            <a:tbl>
              <a:tblPr firstRow="0" bandRow="0"/>
              <a:tblGrid>
                <a:gridCol w="1745845"/>
                <a:gridCol w="3273460"/>
                <a:gridCol w="5892229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하나만 반환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전부 열거 (방법 B)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측정 블록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argmax 비교기 트리 1개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Born 샘플러 (LFSR + 누적확률 비교)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추가 메모리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마스크 배열 N비트 (n=16 → 64 Kb, BRAM 2개)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오라클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비교기 1개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비교기 + AND 게이트 1개 (사실상 공짜)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FSM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S_DONE 에서 종료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S_DONE → 마스크 갱신 → S_INIT 복귀 외부 루프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종료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불필요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'K회 연속 검증 실패 시 종료' 규칙 필요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실행 시간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√(N / 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Σ √(N / k)  ≈  2√(N·M)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490468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n = 16 (N = 65,536),  P = 32 기준 실행 시간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838956"/>
          <a:ext cx="10911533" cy="1402080"/>
        </p:xfrm>
        <a:graphic>
          <a:graphicData uri="http://schemas.openxmlformats.org/drawingml/2006/table">
            <a:tbl>
              <a:tblPr firstRow="0" bandRow="0"/>
              <a:tblGrid>
                <a:gridCol w="3273460"/>
                <a:gridCol w="1854960"/>
                <a:gridCol w="1636730"/>
                <a:gridCol w="1636730"/>
                <a:gridCol w="2509653"/>
              </a:tblGrid>
              <a:tr h="2804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Grover 반복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사이클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@ 100 MHz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201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823 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5,100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21 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210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1,000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16,200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66 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0.66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32,768   (x &lt; T 로 절반이 걸린 경우)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92,700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380 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3.8 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고전 스캔이 5,000배 빠름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69051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열거 모드는 M ≪ N 일 때만 의미가 있다. '=' 술어는 대개 M이 작아 안전하지만 '&lt;' / '&gt;' 는 M이 N/2까지 갈 수 있다.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스펙에 상한을 둔다.  M &gt; M_max (예: 256) 이면 열거를 포기하고 TOO_MANY 를 반환.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정답 개수를 아는가 ①  —  BBHT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최적 반복 횟수는  R = (π/4)·√(N/M) − 1/2  이고, 여기에 정답 개수 M 이 들어 있다.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그런데 value[i] &lt; T 를 만족하는 칸이 몇 개인지는 데이터에 달려 있어 미리 알 수 없다.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M을 모르면 회전각 θ를 모르고, θ를 모르면 최적 반복 횟수를 계산할 수 없다.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7211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BBHT   (Boyer – Brassard – Høyer – Tapp, 1998)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425700"/>
          <a:ext cx="10911535" cy="1776984"/>
        </p:xfrm>
        <a:graphic>
          <a:graphicData uri="http://schemas.openxmlformats.org/drawingml/2006/table">
            <a:tbl>
              <a:tblPr firstRow="0" bandRow="0"/>
              <a:tblGrid>
                <a:gridCol w="654692"/>
                <a:gridCol w="10256843"/>
              </a:tblGrid>
              <a:tr h="2961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m ← 1,  λ ← 6/5 로 시작한다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[0, m) 구간에서 정수 j 를 균등 무작위로 뽑는다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③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균등중첩에서 시작해 Grover를 정확히 j회 반복하고 측정한다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④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측정된 인덱스를 고전적으로 검증한다. 조건을 만족하면 그것이 답이다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실패했으면  m ← min(λ·m, √N)  으로 상한을 키우고 ②로 돌아간다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67276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④의 고전 검증이 에뮬레이터에서는 사실상 공짜다 — BRAM에서 value[i]를 한 번 읽고 비교하면 끝(1~2 사이클).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실기에서는 측정이 상태를 붕괴시켜 회로를 통째로 재실행해야 하므로 이 검증이 비싸다.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m을 1부터 천천히 키우는 이유 — M이 커서 한두 번이면 끝날 문제에 처음부터 j를 크게 뽑으면 헛돈다.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정답 개수를 아는가 ②  —  왜 j 를 무작위로 뽑는가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성공 확률 P(j) = sin²((2j+1)θ) 는 j 에 대해 주기적으로 오르내린다    (N = 8,  M = 3,  θ = 37.76°)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37208"/>
          <a:ext cx="10911534" cy="1682496"/>
        </p:xfrm>
        <a:graphic>
          <a:graphicData uri="http://schemas.openxmlformats.org/drawingml/2006/table">
            <a:tbl>
              <a:tblPr firstRow="0" bandRow="0"/>
              <a:tblGrid>
                <a:gridCol w="763807"/>
                <a:gridCol w="1636730"/>
                <a:gridCol w="1636730"/>
                <a:gridCol w="6874267"/>
              </a:tblGrid>
              <a:tr h="2804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j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(2j+1)θ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성공 확률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37.8°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37.5%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113.3°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84.4%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최적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188.8°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2.3%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지나쳐서 폭락 — 골짜기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264.3°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99.0%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한 바퀴 더 돌아 다시 마루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339.8°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11.7%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02584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· 무작위화는 '좋은 j를 잘 찾는 기법'이 아니라 '나쁜 M에 당하지 않게 하는 방어책'이다.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98748"/>
            <a:ext cx="10911535" cy="87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j를 [0, m)에서 균등하게 뽑았을 때의 평균 성공 확률에는 닫힌 식이 있고, m 이 약 ½√(N/M) 을 넘으면 그 값이 θ와 무관하게 25% 아래로 내려가지 않는다.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즉 M을 몰라도 한 샷 성공률의 하한이 보장되고, 기대 4샷 안에 끝난다.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반대로 j를 m의 함수로 못 박으면, 그 규칙이 만드는 j들이 하필 골짜기에 연달아 떨어지게 하는 M이 언제나 존재한다.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0524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최적은 아니다 — M을 알 때 0.79·√(N/M) 대 BBHT 4.5·√(N/M), 약 5.7배 손해. 다만 차수는 최적(BBBV 하한, 1997).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결정 : 두 모드를 모두 구현하고 기본값을 BBHT로 한다. 5.7배가 실측되는지 확인하면 그 자체가 결과가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검색 정확도  —  오차는 오라클이 아니라 산술에서 생긴다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3" cy="2073148"/>
        </p:xfrm>
        <a:graphic>
          <a:graphicData uri="http://schemas.openxmlformats.org/drawingml/2006/table">
            <a:tbl>
              <a:tblPr firstRow="0" bandRow="0"/>
              <a:tblGrid>
                <a:gridCol w="1745845"/>
                <a:gridCol w="6110459"/>
                <a:gridCol w="3055229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연산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하는 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오차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오라클 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value[i] &lt; T   →   정수 비교, 뺄셈 후 MSB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 — 완전 정확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부호 반전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amp[i] ← −amp[i]   →   2의 보수 부정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합산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Σ aᵢ   →   정수 덧셈 (누산기가 충분히 넓으면)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평균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ā = (Σ aᵢ) &gt;&gt; 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여기서 발생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확산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aᵢ ← 2ā − aᵢ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위 오차가 전파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초기화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aᵢ ← 1/√N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여기서 발생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490468"/>
            <a:ext cx="10911535" cy="87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'크면 뒤집는다'는 비트 연산이라 오차가 없다. 오차는 실수 산술을 하는 곳에서만 생긴다.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특히 1/√N 은 무리수라 유한 비트로 정확히 담을 수 없다. n=16이면 1/√N = 1/256 = 0.0039 인데, 소수부가 4비트면 이 값이 0으로 반올림되어 알고리즘이 통째로 죽는다.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소수부 f 는 최소 n/2 를 넘어야 하고, 여기에 R회 반복의 누적 오차만큼 여유가 더 필요하다.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92244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고장 모드 셋 —  ① 진폭 순위 뒤집힘(argmax 오답)   ② 회전각 드리프트   ③ 진폭 소멸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다행히 우리는 진폭의 절대 정확도가 아니라 순위만 보존하면 된다. 이 느슨함이 비트폭을 크게 아껴 준다.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양자화 / 자릿수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3" cy="2665476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1964076"/>
                <a:gridCol w="3164345"/>
                <a:gridCol w="4910190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실수 vs 복소수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실수 전용 / 복소수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실수 전용 — 양자 카운팅을 뺐으므로 위상은 0 또는 π뿐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수 포맷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고정소수점 / float32 / block FP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고정소수점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 Q포맷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정수부 i + 소수부 f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Q1.17 (18비트) — 골든 모델 실측 후 확정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누산기 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f + n 이상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f + n + 2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반올림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절단 / 최근접 반올림 / 확률적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최근접 반올림 — 절단은 편향이 R회 누적됨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오버플로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포화 / 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포화 — 랩은 부호가 뒤집혀 결과가 완전히 깨짐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재정규화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 / 라운드마다 / block FP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없음 — Grover는 노름 보존이 이론상 보장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S1-8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데이터 워드 폭 W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 / 16 / 32비트, 부호 유무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signed 16비트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문제 복잡도 / 메모리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3" cy="1776984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2400537"/>
                <a:gridCol w="3273460"/>
                <a:gridCol w="4364614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근거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S2-1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목표 큐비트 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16 (설계 목표), 12에서 시작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BRAM 예산표 (다음 장)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S2-2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저장 위치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BRAM 온칩 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빠르고 간단. 외부 메모리 주변회로 불필요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S2-3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데이터 배열 온칩 여부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온칩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스트리밍하면 매 반복마다 재로드 → 대역폭 병목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S2-4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병렬도 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32 레인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성능을 지배하는 유일한 파라미터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S2-5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뱅킹 구조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인덱스 하위 log₂P 비트로 뱅크 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순차 스트리밍이라 뱅크 충돌 없음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12592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n = 16, 진폭 18비트면 진폭 배열이 정확히 BRAM36 32개를 차지한다. P = 32 뱅킹이 하드웨어적으로 자연스럽다.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아키텍쳐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3" cy="2778760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1636730"/>
                <a:gridCol w="3709921"/>
                <a:gridCol w="4691960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시스템 형태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(a) 순수 RTL + UART   (b) MicroBlaze + AXI   (c) standalone FSM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(b) — BBHT 외부 루프를 SW로 두면 훨씬 쉬움</a:t>
                      </a:r>
                    </a:p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※ 우리는 RVX라 펌웨어 올리는 방법 확인 필요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역할 분담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 갱신 = HW  /  BBHT 루프 · T 갱신 · 검증 = SW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위와 동일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패스 구조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1패스 융합 / 2패스 (오라클+합 → 확산)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2패스 — 평균은 전체 합이 끝나야 나옴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R 계산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실시간 제곱근 / ROM LUT / 상수 시프트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ROM LUT — m 값 종류가 30개 남짓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측정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argmax / Born 확률 샘플링 (LFSR + CDF)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Born 샘플링 — 다중 정답의 진폭이 같아 argmax로는 열거 불가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곱셈기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DSP 사용 / shift+sub only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확산은 shift+sub only (DSP 0개). 측정 제곱기에만 DSP 1개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S3-7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목표 클럭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100 / 150 / 200 MHz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우선 100 MHz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검증 / 평가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4" cy="1981708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1964076"/>
                <a:gridCol w="8074536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#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결정 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008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S4-1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골든 모델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Python/NumPy float64 → 비트정확 고정소수점 모델 → RTL, 3단 비교</a:t>
                      </a:r>
                    </a:p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※ 소프트웨어로 먼저 구현해 보는 것으로!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S4-2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합격 기준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골든 모델 대비 bit exact  (RTL vs 고정소수점 모델)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S4-3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벤치마크 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n ∈ {8, 10, 12, 14, 16}   ×   M ∈ {1, 2, 4, …, N/2}   ×   술어 4종   ×   데이터 분포 3종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S4-4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비교 baseline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Qiskit AerSimulator (statevector) + NumPy 직접 구현, 둘 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S4-5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평가 지표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성공률 / 반복 횟수 / 사이클 / LUT·FF·BRAM·DSP 사용률 / 전력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435604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Phase 1(골든 모델)을 RTL보다 먼저 하는 이유 — 비트폭 f 를 논문 공식으로 베끼면 32비트가 나오지만 실측하면 18비트로 충분할 가능성이 크다. 이 차이가 n을 16까지 올릴 수 있느냐를 가른다.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예상되는 자원 사용량  —  추정치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XC7S100 기준 :  BRAM 120 × 36 Kb = 4,320 Kb (약 552 KB)   |   DSP 160개   |   로직 셀 102,400개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정확한 보드 모델은 미확인 — 보드를 가지고 있는 분에게 확인할 것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아래는 진폭 18비트 + 데이터 16비트 기준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58924"/>
          <a:ext cx="10911531" cy="1776984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1636730"/>
                <a:gridCol w="1745845"/>
                <a:gridCol w="1745845"/>
                <a:gridCol w="1745845"/>
                <a:gridCol w="1636730"/>
                <a:gridCol w="1527614"/>
              </a:tblGrid>
              <a:tr h="29616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진폭 배열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 배열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BRAM 점유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판정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4,096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72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64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136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여유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16,384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288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256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544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13%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여유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65,536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1,152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1,024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2,176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50%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목표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131,072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2,304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2,048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4,352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101%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불가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262,144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4,608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4,096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8,704 Kb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202%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불가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00500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n = 16 이 온칩 천장이다. 절반을 남기는 이유는 마스크 배열, BBHT 상태, 파이프라인 버퍼, 라우팅 여유.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보드에 DDR3가 달려 있다면 S2-2를 다시 열어 n을 20 이상으로 키울 수 있다(대신 순차 스트리밍이 강제됨).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비트폭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05번 논문의 공식   f_min = ⌈ n − log₂(ℓ2 허용오차) − 1.03 ⌉   을 n = 16 에 적용하면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4640"/>
          <a:ext cx="10911533" cy="1536192"/>
        </p:xfrm>
        <a:graphic>
          <a:graphicData uri="http://schemas.openxmlformats.org/drawingml/2006/table">
            <a:tbl>
              <a:tblPr firstRow="0" bandRow="0"/>
              <a:tblGrid>
                <a:gridCol w="3273460"/>
                <a:gridCol w="2400537"/>
                <a:gridCol w="2618768"/>
                <a:gridCol w="2618768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기준 (S0-5)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요구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f_min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진폭 워드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ℓ2 오차 10⁻⁵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엄격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32비트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33비트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ℓ2 오차 10⁻³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보통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25비트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26비트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argmax 성공률 99%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순위만 보존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약 17비트 (추정)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18비트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338575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· 정확도 기준을 argmax 성공률로 잡는 것이 이 설계 최대의 자원 절감 레버다.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34739"/>
            <a:ext cx="10911535" cy="873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우리는 진폭의 절대 정확도가 아니라 순위만 보존하면 되기 때문이다.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다만 위 17비트는 계산이 아니라 추정이다. 공식이 ℓ2 기준이라 argmax 기준으로 그대로 옮길 수 없다.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골든 모델에서 f 를 8~32로 스윕해 성공률 곡선을 실측한 뒤 확정한다.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18비트를 잠정 채택하는 실용적 이유 : BRAM36은 2048×18 구성이 네이티브라 비트 낭비가 0이다.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병렬도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n = 16, M = 1 기준  R = (π/4)·√65,536 ≈ 201회.    반복당 2패스 × N 원소 = 131,072 원소 접근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64640"/>
          <a:ext cx="10911533" cy="1920240"/>
        </p:xfrm>
        <a:graphic>
          <a:graphicData uri="http://schemas.openxmlformats.org/drawingml/2006/table">
            <a:tbl>
              <a:tblPr firstRow="0" bandRow="0"/>
              <a:tblGrid>
                <a:gridCol w="872922"/>
                <a:gridCol w="2400537"/>
                <a:gridCol w="2182307"/>
                <a:gridCol w="2182307"/>
                <a:gridCol w="327346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반복당 사이클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총 사이클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@ 100 MHz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NumPy(추정 ~80 ms) 대비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131,072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26.3 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263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0.3×  (느림)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16,384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3.3 M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33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2.4×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4,096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823 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8.2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약 10×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2,048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412 K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4.1 ms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약 20×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22624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· P = 1로 만들면 PC보다 느리다. 성능을 정하는 것은 비트폭이 아니라 병렬도다.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18788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비트폭을 30비트에서 18비트로 줄이면 메모리를 아끼지만 성능은 그대로인 반면, P는 성능을 직접 32배 바꾼다.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n = 16 · 18비트에서 진폭 배열이 정확히 BRAM36 32개이므로 P = 32 뱅킹이 자연스럽다.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Qiskit 대비로는 이보다 훨씬 큰 배수가 나올 것으로 예상된다.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6060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FB4DC"/>
                </a:solidFill>
                <a:latin typeface="맑은 고딕"/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154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양자컴퓨터와 에뮬레이터 동작 방식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206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B9CEE6"/>
                </a:solidFill>
                <a:latin typeface="맑은 고딕"/>
              </a:defRPr>
            </a:pPr>
            <a:r>
              <a:t>N = 16, 상자 16개에서 42를 찾는 예제로 전 과정을 따라간다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양자컴퓨터 ①  —  문제 설정과 반복 횟수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상자 16개(큐비트 4개)에 숫자가 들어 있고, 42가 든 상자를 찾는다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37208"/>
          <a:ext cx="10911532" cy="529336"/>
        </p:xfrm>
        <a:graphic>
          <a:graphicData uri="http://schemas.openxmlformats.org/drawingml/2006/table">
            <a:tbl>
              <a:tblPr firstRow="0" bandRow="0"/>
              <a:tblGrid>
                <a:gridCol w="1417932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</a:tblGrid>
              <a:tr h="2646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인덱스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46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값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30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212848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정답은 인덱스 10 (이진수 1010),  M = 1.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양자컴퓨터는 이것을 모른다. 아는 것은 판정 규칙  value[i] == 42  뿐이다.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23464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반복 횟수 계산  (기계가 시작 전에 정한다)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71952"/>
            <a:ext cx="10911535" cy="527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F2A37"/>
                </a:solidFill>
                <a:latin typeface="맑은 고딕"/>
              </a:defRPr>
            </a:pPr>
            <a:r>
              <a:t>sin θ = √(M/N) = √(1/16) = 1/4          →    θ = 14.478°</a:t>
            </a:r>
          </a:p>
          <a:p>
            <a:pPr>
              <a:spcAft>
                <a:spcPts val="300"/>
              </a:spcAft>
              <a:defRPr sz="1500" b="0">
                <a:solidFill>
                  <a:srgbClr val="1F2A37"/>
                </a:solidFill>
                <a:latin typeface="맑은 고딕"/>
              </a:defRPr>
            </a:pPr>
            <a:r>
              <a:t>R = π/(4θ) − 1/2 = 3.108 − 0.5 = 2.61     →    R =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63847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0단계  —  큐비트 준비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12335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큐비트 4개를 |0000⟩ 으로 놓고 아다마르 게이트 4개를 건다. 게이트 딱 4개로 16개 진폭이 전부 1/4 이 된다.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이 시점의 정답 확률 6.25%는 눈 감고 찍는 것과 똑같다. 여기서 시작한다.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양자컴퓨터 ②  —  증폭 과정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911534" cy="2304288"/>
        </p:xfrm>
        <a:graphic>
          <a:graphicData uri="http://schemas.openxmlformats.org/drawingml/2006/table">
            <a:tbl>
              <a:tblPr firstRow="0" bandRow="0"/>
              <a:tblGrid>
                <a:gridCol w="2836999"/>
                <a:gridCol w="2182307"/>
                <a:gridCol w="2182307"/>
                <a:gridCol w="1745845"/>
                <a:gridCol w="1964076"/>
              </a:tblGrid>
              <a:tr h="38404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정답칸(10번) 진폭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나머지 15칸 진폭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평균 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정답 확률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초기 (H 게이트)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0.25000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0.25000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0.25000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6.25%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반복 1회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0.68750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0.18750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0.21875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47.3%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반복 2회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0.95313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0.07813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0.13281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90.8%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반복 3회   ←  최적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0.98047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−0.05078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0.01367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96.1%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(반복 4회 — 지나침)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0.76270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−0.16699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−0.10889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58.2%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39896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오라클은 크기를 바꾸지 않고 부호만 뒤집는다. 오라클 직후에 측정하면 여전히 6.25%씩이다 — 부호는 측정에 보이지 않는다.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확산  a ← 2ā − a  가 그 부호 차이를 크기 차이로 번역한다. 정답이 음수라 평균이 내려가고, 그 내려간 평균이 지렛대가 된다.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3회에서 평균이 거의 0까지 내려온다. 정답 하나가 나머지 15개를 합친 것과 맞먹기 때문이다.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55236"/>
            <a:ext cx="10911535" cy="2595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· 4회에서 평균이 음수로 넘어가면 확산이 정답을 깎기 시작한다. 96.1% → 58.2%. 회전이므로 지나치면 되돌아온다.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양자컴퓨터 ③  —  측정과 고전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반복 3회 후 최종 상태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37208"/>
          <a:ext cx="10911532" cy="967232"/>
        </p:xfrm>
        <a:graphic>
          <a:graphicData uri="http://schemas.openxmlformats.org/drawingml/2006/table">
            <a:tbl>
              <a:tblPr firstRow="0" bandRow="0"/>
              <a:tblGrid>
                <a:gridCol w="1417932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  <a:gridCol w="593350"/>
              </a:tblGrid>
              <a:tr h="2646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인덱스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13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14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64668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.980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−.051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789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확률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96.1%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.26%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2687320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측정  —  딱 한 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측정 버튼을 누르면 기계가 위 확률표에 따라 숫자 하나를 뱉는다. 96.1%로 10, 3.9%로 나머지 15개 중 하나.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이 순간 중첩은 사라지고 상태는 |1010⟩ 하나만 남는다.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기계가 알려준 것은 정수 10 하나뿐이다. 위 진폭 표는 우리가 계산한 것이지 기계에서 읽어낸 것이 아니다.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69436"/>
            <a:ext cx="10911535" cy="2570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1F3864"/>
                </a:solidFill>
                <a:latin typeface="맑은 고딕"/>
              </a:defRPr>
            </a:pPr>
            <a:r>
              <a:t>고전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17924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value[10] == 42 ?    →    42 == 42    →    참.    답은 인덱스 10.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확률이 아니라 검산으로 확정된 사실이다. 틀린 답을 맞다고 믿는 경우는 생기지 않는다.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만약 7이 나왔다면 value[7] = 14 ≠ 42 로 실패하고 회로를 처음부터 다시 돌린다. 2연속 실패 확률은 0.15%.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1089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1F3864"/>
                </a:solidFill>
                <a:latin typeface="맑은 고딕"/>
              </a:defRPr>
            </a:pPr>
            <a:r>
              <a:t>에뮬레이터  —  무엇이 같고 무엇이 다른가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14400"/>
            <a:ext cx="10911535" cy="3200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02975" y="63550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8A94A0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11535" cy="464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F3864"/>
                </a:solidFill>
                <a:latin typeface="맑은 고딕"/>
              </a:defRPr>
            </a:pPr>
            <a:r>
              <a:t>양자컴퓨터와 달리 우리는 '측정 전까지 중간 확률을 알 수 없다'도 '측정 시 확률이 붕괴되어 다시 계산해야 한다'도 성립하지 않는다. 그럼에도 방식을 동일하게 모방하기 위해 중간 값을 검사하지 않고, 측정마다 진폭을 초기화한다.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35912"/>
          <a:ext cx="10911534" cy="2073148"/>
        </p:xfrm>
        <a:graphic>
          <a:graphicData uri="http://schemas.openxmlformats.org/drawingml/2006/table">
            <a:tbl>
              <a:tblPr firstRow="0" bandRow="0"/>
              <a:tblGrid>
                <a:gridCol w="2182307"/>
                <a:gridCol w="3928152"/>
                <a:gridCol w="4801075"/>
              </a:tblGrid>
              <a:tr h="2961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실제 양자컴퓨터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우리 에뮬레이터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 전체 관찰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불가 — 측정하면 붕괴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가능하지만 일부러 하지 않음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측정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Born 확률로 인덱스 1개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LFSR 난수 + 누적확률 비교로 동일하게 흉내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실패 후 재시도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회로를 처음부터 재실행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진폭 배열 전체를 INIT_AMP로 재기입 (S_INIT 복귀)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반복 1회 비용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O(n) 게이트 — 수십 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O(N) 진폭 갱신 — 65,536개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부호 반전의 정체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마이크로파 위상 180° (virtual Z, 시간 0)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2의 보수 부정 — amp[i] ← −amp[i]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6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판정 · 루프 · 검증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고전 제어 컴퓨터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F2A37"/>
                          </a:solidFill>
                          <a:latin typeface="맑은 고딕"/>
                        </a:defRPr>
                      </a:pPr>
                      <a:r>
                        <a:t>MicroBlaze 또는 호스트 PC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3DF"/>
                      </a:solidFill>
                    </a:lnL>
                    <a:lnR w="9525" cap="flat" cmpd="sng" algn="ctr">
                      <a:solidFill>
                        <a:srgbClr val="C9D3DF"/>
                      </a:solidFill>
                    </a:lnR>
                    <a:lnT w="9525" cap="flat" cmpd="sng" algn="ctr">
                      <a:solidFill>
                        <a:srgbClr val="C9D3DF"/>
                      </a:solidFill>
                    </a:lnT>
                    <a:lnB w="9525" cap="flat" cmpd="sng" algn="ctr">
                      <a:solidFill>
                        <a:srgbClr val="C9D3DF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73652"/>
            <a:ext cx="10911535" cy="669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반복 1회 비용의 O(n) 대 O(N) 격차가 에뮬레이터가 치르는 대가다. 실기는 큐비트 16개를 건드리면 진폭 65,536개가 물리적으로 동시에 바뀌지만, 우리는 하나씩 꺼내 계산해야 한다.</a:t>
            </a:r>
          </a:p>
          <a:p>
            <a:pPr>
              <a:spcAft>
                <a:spcPts val="300"/>
              </a:spcAft>
              <a:defRPr sz="1300" b="0">
                <a:solidFill>
                  <a:srgbClr val="556270"/>
                </a:solidFill>
                <a:latin typeface="맑은 고딕"/>
              </a:defRPr>
            </a:pPr>
            <a:r>
              <a:t>· 치트 모드(오라클 후 음수 진폭을 스캔하면 정답 전부를 N 사이클에 얻음)는 골든 모델 대조용 디버그 기능으로만 두고 동작 경로에는 넣지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