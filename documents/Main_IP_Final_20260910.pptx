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914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7540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94360" y="68580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E1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IP Final v1.3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21792" y="133502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</a:rPr>
              <a:t>BBHT/Grover FPGA Emulator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1792" y="173736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678"/>
                </a:solidFill>
              </a:rPr>
              <a:t>최종 구현 내용 · 성능 결과 · 서버 패키지 확인 위치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15200" y="731520"/>
            <a:ext cx="3794760" cy="448056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635240" y="1051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3C5FD"/>
                </a:solidFill>
              </a:rPr>
              <a:t>FINAL CONFIG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1444752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K3/H3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E4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M2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7662672" y="3886200"/>
            <a:ext cx="30175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Q14 · P32 · AMP_W23/F22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Standalone FPGA + RVX SoC path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4343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C2626"/>
                </a:solidFill>
              </a:rPr>
              <a:t>6.1401×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58368" y="48737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678"/>
                </a:solidFill>
              </a:rPr>
              <a:t>500-workload RTL cycle speedup vs Normal-E1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829800" y="65653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794"/>
                </a:solidFill>
              </a:rPr>
              <a:t>Main IP Final v1.3  |  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1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구현한 범위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12064" y="7772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678"/>
                </a:solidFill>
              </a:rPr>
              <a:t>서버 패키지에서 바로 확인할 구현 단위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12064" y="1115568"/>
            <a:ext cx="11155680" cy="0"/>
          </a:xfrm>
          <a:prstGeom prst="line">
            <a:avLst/>
          </a:prstGeom>
          <a:noFill/>
          <a:ln w="10160">
            <a:solidFill>
              <a:srgbClr val="CAD3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32461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0E1726"/>
                </a:solidFill>
              </a:rPr>
              <a:t>Accelerator core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0E1726"/>
                </a:solidFill>
              </a:rPr>
              <a:t>BBHT shot FSM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0E1726"/>
                </a:solidFill>
              </a:rPr>
              <a:t>Checkpoint/policy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0E1726"/>
                </a:solidFill>
              </a:rPr>
              <a:t>Grover iteration datapath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0E1726"/>
                </a:solidFill>
              </a:rPr>
              <a:t>Measurement + result/status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417320"/>
            <a:ext cx="54864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480560" y="1417320"/>
            <a:ext cx="32461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0E1726"/>
                </a:solidFill>
              </a:rPr>
              <a:t>Standalone board path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0E1726"/>
                </a:solidFill>
              </a:rPr>
              <a:t>UART→APB bridge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0E1726"/>
                </a:solidFill>
              </a:rPr>
              <a:t>Deterministic dataset generator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0E1726"/>
                </a:solidFill>
              </a:rPr>
              <a:t>Arty A7-100T top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0E1726"/>
                </a:solidFill>
              </a:rPr>
              <a:t>Host benchmark script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80560" y="1417320"/>
            <a:ext cx="54864" cy="19202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229600" y="1417320"/>
            <a:ext cx="32461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0E1726"/>
                </a:solidFill>
              </a:rPr>
              <a:t>RVX SoC path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0E1726"/>
                </a:solidFill>
              </a:rPr>
              <a:t>APB CSR control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0E1726"/>
                </a:solidFill>
              </a:rPr>
              <a:t>AHB/DMA data path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0E1726"/>
                </a:solidFill>
              </a:rPr>
              <a:t>Firmware benchmark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0E1726"/>
                </a:solidFill>
              </a:rPr>
              <a:t>ORCA SW baseline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0" y="1417320"/>
            <a:ext cx="54864" cy="1920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77240" y="3977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726"/>
                </a:solidFill>
              </a:rPr>
              <a:t>핵심 설계 원칙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4343400"/>
            <a:ext cx="102412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E1726"/>
                </a:solidFill>
              </a:rPr>
              <a:t>하나의 Main IP를 중심에 두고, 보드 단독 실행 경로와 RVX SoC 실행 경로를 분리했다.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E1726"/>
                </a:solidFill>
              </a:rPr>
              <a:t>서버에는 RTL/TB/SW/FW와 결과 파일을 같은 기준값으로 재현할 수 있게 배치했다.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5577840"/>
            <a:ext cx="11430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01_RTL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40280" y="5577840"/>
            <a:ext cx="11430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02_TB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66160" y="5577840"/>
            <a:ext cx="13258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03_SW_FW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74920" y="5577840"/>
            <a:ext cx="13258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04_BUILD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5577840"/>
            <a:ext cx="19202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05_EXPERIMENTS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732520" y="5577840"/>
            <a:ext cx="13258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07_BOARD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829800" y="65653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794"/>
                </a:solidFill>
              </a:rPr>
              <a:t>Main IP Final v1.3  | 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1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기준 configuration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12064" y="7772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678"/>
                </a:solidFill>
              </a:rPr>
              <a:t>후속 수정 전 반드시 맞춰야 하는 값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12064" y="1115568"/>
            <a:ext cx="11155680" cy="0"/>
          </a:xfrm>
          <a:prstGeom prst="line">
            <a:avLst/>
          </a:prstGeom>
          <a:noFill/>
          <a:ln w="10160">
            <a:solidFill>
              <a:srgbClr val="CAD3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6678"/>
                </a:solidFill>
              </a:rPr>
              <a:t>Search scale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697480" y="1417320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726"/>
                </a:solidFill>
              </a:rPr>
              <a:t>Q14 / N = 16,384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1764792"/>
            <a:ext cx="52120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355080" y="141732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6678"/>
                </a:solidFill>
              </a:rPr>
              <a:t>Parallelism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75320" y="1417320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726"/>
                </a:solidFill>
              </a:rPr>
              <a:t>P = 32 lanes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55080" y="1764792"/>
            <a:ext cx="52120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77240" y="211226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6678"/>
                </a:solidFill>
              </a:rPr>
              <a:t>Fixed-point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697480" y="2112264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726"/>
                </a:solidFill>
              </a:rPr>
              <a:t>AMP_W = 23 / F22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2459736"/>
            <a:ext cx="52120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355080" y="211226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6678"/>
                </a:solidFill>
              </a:rPr>
              <a:t>Checkpoint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75320" y="2112264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726"/>
                </a:solidFill>
              </a:rPr>
              <a:t>K = 3 slots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55080" y="2459736"/>
            <a:ext cx="52120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77240" y="280720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6678"/>
                </a:solidFill>
              </a:rPr>
              <a:t>Look-ahead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697480" y="2807208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726"/>
                </a:solidFill>
              </a:rPr>
              <a:t>H = 3 future window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77240" y="3154680"/>
            <a:ext cx="52120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355080" y="280720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6678"/>
                </a:solidFill>
              </a:rPr>
              <a:t>Iteration datapath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275320" y="2807208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726"/>
                </a:solidFill>
              </a:rPr>
              <a:t>E4 = 4-row/cycle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55080" y="3154680"/>
            <a:ext cx="52120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77240" y="350215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6678"/>
                </a:solidFill>
              </a:rPr>
              <a:t>Measurement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697480" y="3502152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726"/>
                </a:solidFill>
              </a:rPr>
              <a:t>M2 = hierarchical measurement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77240" y="3849624"/>
            <a:ext cx="52120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355080" y="350215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6678"/>
                </a:solidFill>
              </a:rPr>
              <a:t>Board target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275320" y="3502152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726"/>
                </a:solidFill>
              </a:rPr>
              <a:t>Arty A7-100T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355080" y="3849624"/>
            <a:ext cx="52120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9829800" y="65653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794"/>
                </a:solidFill>
              </a:rPr>
              <a:t>Main IP Final v1.3  | 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1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사이클 성능: 6-stage ablation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12064" y="7772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</a:rPr>
              <a:t>500 common workloads 기준</a:t>
            </a:r>
            <a:r>
              <a:rPr lang="en-US" sz="1050" dirty="0">
                <a:solidFill>
                  <a:srgbClr val="5B6678"/>
                </a:solidFill>
              </a:rPr>
              <a:t>, DUT CSR_CYCLE_COUNT 합산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12064" y="1115568"/>
            <a:ext cx="11155680" cy="0"/>
          </a:xfrm>
          <a:prstGeom prst="line">
            <a:avLst/>
          </a:prstGeom>
          <a:noFill/>
          <a:ln w="10160">
            <a:solidFill>
              <a:srgbClr val="CAD3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E1726"/>
                </a:solidFill>
              </a:rPr>
              <a:t>Normal-E1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2788920" y="1444752"/>
            <a:ext cx="5623560" cy="164592"/>
          </a:xfrm>
          <a:prstGeom prst="rect">
            <a:avLst/>
          </a:prstGeom>
          <a:solidFill>
            <a:srgbClr val="5B6678"/>
          </a:solidFill>
          <a:ln w="12700">
            <a:solidFill>
              <a:srgbClr val="5B667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549640" y="141732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5B6678"/>
                </a:solidFill>
              </a:rPr>
              <a:t>42,308,335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9829800" y="1417320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B6678"/>
                </a:solidFill>
              </a:rPr>
              <a:t>1.0000×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881360" y="1417320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678"/>
                </a:solidFill>
              </a:rPr>
              <a:t>baseline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77240" y="200253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E1726"/>
                </a:solidFill>
              </a:rPr>
              <a:t>K4/H4-E1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2788920" y="2029968"/>
            <a:ext cx="2438964" cy="1645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549640" y="200253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59669"/>
                </a:solidFill>
              </a:rPr>
              <a:t>18,349,320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9829800" y="2002536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59669"/>
                </a:solidFill>
              </a:rPr>
              <a:t>2.3057×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881360" y="2002536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678"/>
                </a:solidFill>
              </a:rPr>
              <a:t>checkpoint/policy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77240" y="258775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E1726"/>
                </a:solidFill>
              </a:rPr>
              <a:t>K4/H4-E4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2788920" y="2615184"/>
            <a:ext cx="1494902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549640" y="258775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891B2"/>
                </a:solidFill>
              </a:rPr>
              <a:t>11,246,755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9829800" y="2587752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891B2"/>
                </a:solidFill>
              </a:rPr>
              <a:t>3.7618×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881360" y="2587752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678"/>
                </a:solidFill>
              </a:rPr>
              <a:t>4-row iteration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77240" y="317296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E1726"/>
                </a:solidFill>
              </a:rPr>
              <a:t>K3/H3-E4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2788920" y="3200400"/>
            <a:ext cx="1380464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8549640" y="317296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2563EB"/>
                </a:solidFill>
              </a:rPr>
              <a:t>10,385,795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9829800" y="3172968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563EB"/>
                </a:solidFill>
              </a:rPr>
              <a:t>4.0737×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881360" y="3172968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678"/>
                </a:solidFill>
              </a:rPr>
              <a:t>policy retune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77240" y="375818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E1726"/>
                </a:solidFill>
              </a:rPr>
              <a:t>K3/H3-E4-M1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2788920" y="3785616"/>
            <a:ext cx="1129890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8549640" y="3758184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D97706"/>
                </a:solidFill>
              </a:rPr>
              <a:t>8,500,620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9829800" y="3758184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97706"/>
                </a:solidFill>
              </a:rPr>
              <a:t>4.9771×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881360" y="3758184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678"/>
                </a:solidFill>
              </a:rPr>
              <a:t>measurement M1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77240" y="43434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E1726"/>
                </a:solidFill>
              </a:rPr>
              <a:t>K3/H3-E4-M2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2788920" y="4370832"/>
            <a:ext cx="915871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8549640" y="434340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DC2626"/>
                </a:solidFill>
              </a:rPr>
              <a:t>6,890,470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9829800" y="4343400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C2626"/>
                </a:solidFill>
              </a:rPr>
              <a:t>6.1401×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881360" y="4343400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678"/>
                </a:solidFill>
              </a:rPr>
              <a:t>hierarchical measurement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41248" y="5257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1726"/>
                </a:solidFill>
              </a:rPr>
              <a:t>최종 결과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103120" y="523951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726"/>
                </a:solidFill>
              </a:rPr>
              <a:t>Normal-E1 42.31M cycles → K3/H3-E4-M2 6.89M cycles, aggregate speedup 6.1401×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829800" y="65653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794"/>
                </a:solidFill>
              </a:rPr>
              <a:t>Main IP Final v1.3  |  5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144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1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단계별 해석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12064" y="7772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678"/>
                </a:solidFill>
              </a:rPr>
              <a:t>각 단계가 줄인 부분과 비용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12064" y="1115568"/>
            <a:ext cx="11155680" cy="0"/>
          </a:xfrm>
          <a:prstGeom prst="line">
            <a:avLst/>
          </a:prstGeom>
          <a:noFill/>
          <a:ln w="10160">
            <a:solidFill>
              <a:srgbClr val="CAD3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77240" y="13898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6678"/>
                </a:solidFill>
              </a:rPr>
              <a:t>Stage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834640" y="13898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6678"/>
                </a:solidFill>
              </a:rPr>
              <a:t>변경점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0" y="13898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6678"/>
                </a:solidFill>
              </a:rPr>
              <a:t>Cycle change</a:t>
            </a:r>
            <a:r>
              <a:rPr lang="en-US" sz="1150" b="1" dirty="0">
                <a:solidFill>
                  <a:srgbClr val="DC2626"/>
                </a:solidFill>
              </a:rPr>
              <a:t>(250case</a:t>
            </a:r>
            <a:r>
              <a:rPr lang="ko-KR" altLang="en-US" sz="1150" b="1" dirty="0">
                <a:solidFill>
                  <a:srgbClr val="DC2626"/>
                </a:solidFill>
              </a:rPr>
              <a:t> </a:t>
            </a:r>
            <a:r>
              <a:rPr lang="en-US" altLang="ko-KR" sz="1150" b="1" dirty="0">
                <a:solidFill>
                  <a:srgbClr val="DC2626"/>
                </a:solidFill>
              </a:rPr>
              <a:t>X,</a:t>
            </a:r>
            <a:r>
              <a:rPr lang="ko-KR" altLang="en-US" sz="1150" b="1" dirty="0">
                <a:solidFill>
                  <a:srgbClr val="DC2626"/>
                </a:solidFill>
              </a:rPr>
              <a:t> </a:t>
            </a:r>
            <a:r>
              <a:rPr lang="en-US" altLang="ko-KR" sz="1150" b="1" dirty="0">
                <a:solidFill>
                  <a:srgbClr val="DC2626"/>
                </a:solidFill>
              </a:rPr>
              <a:t>500case)</a:t>
            </a:r>
            <a:endParaRPr lang="en-US" sz="1150" dirty="0">
              <a:solidFill>
                <a:srgbClr val="DC2626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8503920" y="13898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6678"/>
                </a:solidFill>
              </a:rPr>
              <a:t>Prev. speedup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1636776"/>
            <a:ext cx="103327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7724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E1726"/>
                </a:solidFill>
              </a:rPr>
              <a:t>K4/H4-E1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283464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0E1726"/>
                </a:solidFill>
              </a:rPr>
              <a:t>checkpoint/policy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5486400" y="1783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0E1726"/>
                </a:solidFill>
              </a:rPr>
              <a:t>42.31M → 18.35M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8503920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59669"/>
                </a:solidFill>
              </a:rPr>
              <a:t>2.31×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777240" y="2231136"/>
            <a:ext cx="103327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7724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E1726"/>
                </a:solidFill>
              </a:rPr>
              <a:t>K4/H4-E4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2834640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0E1726"/>
                </a:solidFill>
              </a:rPr>
              <a:t>E4 datapath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5486400" y="2377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0E1726"/>
                </a:solidFill>
              </a:rPr>
              <a:t>18.35M → 11.25M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8503920" y="2377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891B2"/>
                </a:solidFill>
              </a:rPr>
              <a:t>1.63×</a:t>
            </a:r>
            <a:endParaRPr lang="en-US" sz="1320" dirty="0"/>
          </a:p>
        </p:txBody>
      </p:sp>
      <p:sp>
        <p:nvSpPr>
          <p:cNvPr id="21" name="Shape 19"/>
          <p:cNvSpPr/>
          <p:nvPr/>
        </p:nvSpPr>
        <p:spPr>
          <a:xfrm>
            <a:off x="777240" y="2825496"/>
            <a:ext cx="103327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7724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E1726"/>
                </a:solidFill>
              </a:rPr>
              <a:t>K3/H3-E4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2834640" y="2971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0E1726"/>
                </a:solidFill>
              </a:rPr>
              <a:t>policy retune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5486400" y="2971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0E1726"/>
                </a:solidFill>
              </a:rPr>
              <a:t>11.25M → 10.39M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8503920" y="2971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2563EB"/>
                </a:solidFill>
              </a:rPr>
              <a:t>1.08×</a:t>
            </a:r>
            <a:endParaRPr lang="en-US" sz="1320" dirty="0"/>
          </a:p>
        </p:txBody>
      </p:sp>
      <p:sp>
        <p:nvSpPr>
          <p:cNvPr id="26" name="Shape 24"/>
          <p:cNvSpPr/>
          <p:nvPr/>
        </p:nvSpPr>
        <p:spPr>
          <a:xfrm>
            <a:off x="777240" y="3419856"/>
            <a:ext cx="103327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7724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E1726"/>
                </a:solidFill>
              </a:rPr>
              <a:t>K3/H3-E4-M1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2834640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0E1726"/>
                </a:solidFill>
              </a:rPr>
              <a:t>measurement M1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5486400" y="3566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0E1726"/>
                </a:solidFill>
              </a:rPr>
              <a:t>10.39M → 8.50M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8503920" y="3566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D97706"/>
                </a:solidFill>
              </a:rPr>
              <a:t>1.22×</a:t>
            </a:r>
            <a:endParaRPr lang="en-US" sz="1320" dirty="0"/>
          </a:p>
        </p:txBody>
      </p:sp>
      <p:sp>
        <p:nvSpPr>
          <p:cNvPr id="31" name="Shape 29"/>
          <p:cNvSpPr/>
          <p:nvPr/>
        </p:nvSpPr>
        <p:spPr>
          <a:xfrm>
            <a:off x="777240" y="4014216"/>
            <a:ext cx="103327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77724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E1726"/>
                </a:solidFill>
              </a:rPr>
              <a:t>K3/H3-E4-M2</a:t>
            </a:r>
            <a:endParaRPr lang="en-US" sz="1320" dirty="0"/>
          </a:p>
        </p:txBody>
      </p:sp>
      <p:sp>
        <p:nvSpPr>
          <p:cNvPr id="33" name="Text 31"/>
          <p:cNvSpPr/>
          <p:nvPr/>
        </p:nvSpPr>
        <p:spPr>
          <a:xfrm>
            <a:off x="2834640" y="4160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0E1726"/>
                </a:solidFill>
              </a:rPr>
              <a:t>measurement M2</a:t>
            </a:r>
            <a:endParaRPr lang="en-US" sz="1320" dirty="0"/>
          </a:p>
        </p:txBody>
      </p:sp>
      <p:sp>
        <p:nvSpPr>
          <p:cNvPr id="34" name="Text 32"/>
          <p:cNvSpPr/>
          <p:nvPr/>
        </p:nvSpPr>
        <p:spPr>
          <a:xfrm>
            <a:off x="5486400" y="4160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0E1726"/>
                </a:solidFill>
              </a:rPr>
              <a:t>8.50M → 6.89M</a:t>
            </a:r>
            <a:endParaRPr lang="en-US" sz="1320" dirty="0"/>
          </a:p>
        </p:txBody>
      </p:sp>
      <p:sp>
        <p:nvSpPr>
          <p:cNvPr id="35" name="Text 33"/>
          <p:cNvSpPr/>
          <p:nvPr/>
        </p:nvSpPr>
        <p:spPr>
          <a:xfrm>
            <a:off x="8503920" y="4160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DC2626"/>
                </a:solidFill>
              </a:rPr>
              <a:t>1.23×</a:t>
            </a:r>
            <a:endParaRPr lang="en-US" sz="1320" dirty="0"/>
          </a:p>
        </p:txBody>
      </p:sp>
      <p:sp>
        <p:nvSpPr>
          <p:cNvPr id="36" name="Text 34"/>
          <p:cNvSpPr/>
          <p:nvPr/>
        </p:nvSpPr>
        <p:spPr>
          <a:xfrm>
            <a:off x="822960" y="5102352"/>
            <a:ext cx="104241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E1726"/>
                </a:solidFill>
              </a:rPr>
              <a:t>단계별 cycle은 같은 workload 집합에서 비교해야 한다. final headline은 500 common workloads의 6-stage aggregate를 우선한다.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9829800" y="65653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794"/>
                </a:solidFill>
              </a:rPr>
              <a:t>Main IP Final v1.3  |  6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1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왜 K3/H3인가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12064" y="7772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678"/>
                </a:solidFill>
              </a:rPr>
              <a:t>E4 이후에는 policy/checkpoint overhead를 줄이는 쪽이 유리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12064" y="1115568"/>
            <a:ext cx="11155680" cy="0"/>
          </a:xfrm>
          <a:prstGeom prst="line">
            <a:avLst/>
          </a:prstGeom>
          <a:noFill/>
          <a:ln w="10160">
            <a:solidFill>
              <a:srgbClr val="CAD3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77240" y="13898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63EB"/>
                </a:solidFill>
              </a:rPr>
              <a:t>−69.9%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89280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1726"/>
                </a:solidFill>
              </a:rPr>
              <a:t>policy actions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217627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5B6678"/>
                </a:solidFill>
              </a:rPr>
              <a:t>16,266 → 4,898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3611880" y="13898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9669"/>
                </a:solidFill>
              </a:rPr>
              <a:t>−55.5%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611880" y="189280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1726"/>
                </a:solidFill>
              </a:rPr>
              <a:t>policy cycles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11880" y="217627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5B6678"/>
                </a:solidFill>
              </a:rPr>
              <a:t>76,774 → 34,184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6446520" y="13898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C2626"/>
                </a:solidFill>
              </a:rPr>
              <a:t>−72.9%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46520" y="189280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1726"/>
                </a:solidFill>
              </a:rPr>
              <a:t>policy stall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46520" y="217627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5B6678"/>
                </a:solidFill>
              </a:rPr>
              <a:t>15,160 → 4,114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868681" y="2880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726"/>
                </a:solidFill>
              </a:rPr>
              <a:t>K4/H4-E4 → K3/H3-E4 직접 비교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1" y="324612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E1726"/>
                </a:solidFill>
              </a:rPr>
              <a:t>6-case aggregate cycles: 301,404 → 288,164  (1.0459×)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E1726"/>
                </a:solidFill>
              </a:rPr>
              <a:t>physical iteration은 +4.7%였지만 policy work 감소가 total cycle을 이김.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75120" y="3063240"/>
            <a:ext cx="0" cy="15544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995160" y="2880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726"/>
                </a:solidFill>
              </a:rPr>
              <a:t>K/H isolated E1 250-pair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95160" y="32461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E1726"/>
                </a:solidFill>
              </a:rPr>
              <a:t>K4/H4: 8,836,298 cycles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E1726"/>
                </a:solidFill>
              </a:rPr>
              <a:t>K3/H4: 8,818,101 cycles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E1726"/>
                </a:solidFill>
              </a:rPr>
              <a:t>K3/H3: 8,596,609 cycles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54480" y="4773168"/>
            <a:ext cx="9575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1726"/>
                </a:solidFill>
              </a:rPr>
              <a:t>K/H를 키우는 것이 항상 유리한 것이 아니라, E4로 Grover body가 짧아진 뒤에는 작은 K/H가 전체 사이클에서 더 낫다.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829800" y="65653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794"/>
                </a:solidFill>
              </a:rPr>
              <a:t>Main IP Final v1.3  |  7</a:t>
            </a:r>
            <a:endParaRPr lang="en-US" sz="75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E19534-11A7-8D61-830C-F4DD8B9974F5}"/>
              </a:ext>
            </a:extLst>
          </p:cNvPr>
          <p:cNvSpPr txBox="1"/>
          <p:nvPr/>
        </p:nvSpPr>
        <p:spPr>
          <a:xfrm>
            <a:off x="7894864" y="1697212"/>
            <a:ext cx="3869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ko-KR" sz="1800" b="1" dirty="0">
                <a:solidFill>
                  <a:srgbClr val="0E1726"/>
                </a:solidFill>
              </a:rPr>
              <a:t>&lt;-        “K4/H4-E4 → K3/H3-E4 </a:t>
            </a:r>
            <a:r>
              <a:rPr lang="ko-KR" altLang="en-US" sz="1800" b="1" dirty="0">
                <a:solidFill>
                  <a:srgbClr val="0E1726"/>
                </a:solidFill>
              </a:rPr>
              <a:t>기준</a:t>
            </a:r>
            <a:r>
              <a:rPr lang="en-US" altLang="ko-KR" b="1" dirty="0">
                <a:solidFill>
                  <a:srgbClr val="0E1726"/>
                </a:solidFill>
              </a:rPr>
              <a:t>”</a:t>
            </a:r>
            <a:endParaRPr lang="en-US" altLang="ko-KR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1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E4와 M2 의미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12064" y="7772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678"/>
                </a:solidFill>
              </a:rPr>
              <a:t>최종 Main IP에서 cycle을 줄인 datapath/measurement 변경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12064" y="1115568"/>
            <a:ext cx="11155680" cy="0"/>
          </a:xfrm>
          <a:prstGeom prst="line">
            <a:avLst/>
          </a:prstGeom>
          <a:noFill/>
          <a:ln w="10160">
            <a:solidFill>
              <a:srgbClr val="CAD3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4937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0E1726"/>
                </a:solidFill>
              </a:rPr>
              <a:t>E4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0E1726"/>
                </a:solidFill>
              </a:rPr>
              <a:t>Grover iteration을 4-row/cycle로 처리하는 datapath.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0E1726"/>
                </a:solidFill>
              </a:rPr>
              <a:t>K4/H4-E1 대비 Grover body cycle을 줄인다.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" y="1417320"/>
            <a:ext cx="54864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355080" y="1417320"/>
            <a:ext cx="4937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0E1726"/>
                </a:solidFill>
              </a:rPr>
              <a:t>M2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0E1726"/>
                </a:solidFill>
              </a:rPr>
              <a:t>Measurement의 hierarchical path.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0E1726"/>
                </a:solidFill>
              </a:rPr>
              <a:t>group-CDF / S_GROUP_SCAN을 활성화해 scan 비용을 줄인다.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55080" y="1417320"/>
            <a:ext cx="54864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22960" y="30632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1726"/>
                </a:solidFill>
              </a:rPr>
              <a:t>Measurement single-seed anchor  (target=256, result/trial/L 동일)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14400" y="36118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1726"/>
                </a:solidFill>
              </a:rPr>
              <a:t>E4 baseline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361188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678"/>
                </a:solidFill>
              </a:rPr>
              <a:t>M1=0 / M2=0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51960" y="3648456"/>
            <a:ext cx="4023360" cy="1554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458200" y="36118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91B2"/>
                </a:solidFill>
              </a:rPr>
              <a:t>11,100 cycles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14223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1726"/>
                </a:solidFill>
              </a:rPr>
              <a:t>E4-M1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0320" y="414223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678"/>
                </a:solidFill>
              </a:rPr>
              <a:t>M1=1 / M2=0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51960" y="4178808"/>
            <a:ext cx="3281032" cy="1554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458200" y="414223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7706"/>
                </a:solidFill>
              </a:rPr>
              <a:t>9,052 cycles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14400" y="467258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1726"/>
                </a:solidFill>
              </a:rPr>
              <a:t>E4-M2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60320" y="467258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678"/>
                </a:solidFill>
              </a:rPr>
              <a:t>M1=1 / M2=1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51960" y="4709160"/>
            <a:ext cx="2553565" cy="1554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8458200" y="46725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C2626"/>
                </a:solidFill>
              </a:rPr>
              <a:t>7,045 cycles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2960" y="521208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E1726"/>
                </a:solidFill>
              </a:rPr>
              <a:t>M2는 최종 K3/H3-E4 구성의 measurement 병목을 추가로 줄이기 위한 compile-time option이다.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829800" y="65653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794"/>
                </a:solidFill>
              </a:rPr>
              <a:t>Main IP Final v1.3  |  8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"/>
            <a:ext cx="12191695" cy="6946901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1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보드 결과와 합성 결과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12064" y="7772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678"/>
                </a:solidFill>
              </a:rPr>
              <a:t>서버 패키지에서 확인할 핵심 산출물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12064" y="1115568"/>
            <a:ext cx="11155680" cy="0"/>
          </a:xfrm>
          <a:prstGeom prst="line">
            <a:avLst/>
          </a:prstGeom>
          <a:noFill/>
          <a:ln w="10160">
            <a:solidFill>
              <a:srgbClr val="CAD3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3108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0E1726"/>
                </a:solidFill>
              </a:rPr>
              <a:t>Board output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0E1726"/>
                </a:solidFill>
              </a:rPr>
              <a:t>K3/H3-E4-M2 clean 250 pairs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0E1726"/>
                </a:solidFill>
              </a:rPr>
              <a:t>CSV + LOG 보존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" y="1417320"/>
            <a:ext cx="54864" cy="150875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26280" y="1417320"/>
            <a:ext cx="3108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0E1726"/>
                </a:solidFill>
              </a:rPr>
              <a:t>Timing / resource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0E1726"/>
                </a:solidFill>
              </a:rPr>
              <a:t>WNS +0.224 ns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0E1726"/>
                </a:solidFill>
              </a:rPr>
              <a:t>LUT 34,399 / FF 28,847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0E1726"/>
                </a:solidFill>
              </a:rPr>
              <a:t>BRAM 84.5 / DSP 128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26280" y="1417319"/>
            <a:ext cx="54864" cy="150875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275320" y="1417320"/>
            <a:ext cx="3108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0E1726"/>
                </a:solidFill>
              </a:rPr>
              <a:t>System comparison</a:t>
            </a:r>
            <a:r>
              <a:rPr lang="en-US" sz="1250" dirty="0">
                <a:solidFill>
                  <a:srgbClr val="FF0000"/>
                </a:solidFill>
              </a:rPr>
              <a:t>(Real</a:t>
            </a:r>
            <a:r>
              <a:rPr lang="ko-KR" altLang="en-US" sz="1250" dirty="0">
                <a:solidFill>
                  <a:srgbClr val="FF0000"/>
                </a:solidFill>
              </a:rPr>
              <a:t> </a:t>
            </a:r>
            <a:r>
              <a:rPr lang="en-US" altLang="ko-KR" sz="1250" dirty="0">
                <a:solidFill>
                  <a:srgbClr val="FF0000"/>
                </a:solidFill>
              </a:rPr>
              <a:t>Time)</a:t>
            </a:r>
            <a:endParaRPr lang="en-US" sz="1250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US" sz="1250" dirty="0">
                <a:solidFill>
                  <a:srgbClr val="0E1726"/>
                </a:solidFill>
              </a:rPr>
              <a:t>K4/H4 Normal 425,502 μs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0E1726"/>
                </a:solidFill>
              </a:rPr>
              <a:t>K4/H4-E1 164,897 μs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DC2626"/>
                </a:solidFill>
              </a:rPr>
              <a:t>Final M2 55,798 μs</a:t>
            </a:r>
          </a:p>
          <a:p>
            <a:pPr marL="0" indent="0" algn="ctr">
              <a:buNone/>
            </a:pPr>
            <a:r>
              <a:rPr lang="en-US" sz="1250" dirty="0">
                <a:solidFill>
                  <a:srgbClr val="0E1726"/>
                </a:solidFill>
              </a:rPr>
              <a:t>ORCA SW 6,496,338,005 μs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75320" y="1417320"/>
            <a:ext cx="54864" cy="1508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269490" y="3089147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E1726"/>
                </a:solidFill>
              </a:rPr>
              <a:t>Final M2는 보드 실행 산출물과 implementation report가 같이 보존된 최종 standalone </a:t>
            </a:r>
            <a:r>
              <a:rPr lang="en-US" sz="1450" dirty="0" err="1">
                <a:solidFill>
                  <a:srgbClr val="0E1726"/>
                </a:solidFill>
              </a:rPr>
              <a:t>결과다</a:t>
            </a:r>
            <a:r>
              <a:rPr lang="en-US" sz="1450" dirty="0">
                <a:solidFill>
                  <a:srgbClr val="0E1726"/>
                </a:solidFill>
              </a:rPr>
              <a:t>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829800" y="65653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794"/>
                </a:solidFill>
              </a:rPr>
              <a:t>Main IP Final v1.3  |  9</a:t>
            </a:r>
            <a:endParaRPr lang="en-US" sz="750" dirty="0"/>
          </a:p>
        </p:txBody>
      </p:sp>
      <p:graphicFrame>
        <p:nvGraphicFramePr>
          <p:cNvPr id="16" name="Table 4">
            <a:extLst>
              <a:ext uri="{FF2B5EF4-FFF2-40B4-BE49-F238E27FC236}">
                <a16:creationId xmlns:a16="http://schemas.microsoft.com/office/drawing/2014/main" id="{671F8027-6791-36C2-2B48-FA2791FF40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646777"/>
              </p:ext>
            </p:extLst>
          </p:nvPr>
        </p:nvGraphicFramePr>
        <p:xfrm>
          <a:off x="1930120" y="4572130"/>
          <a:ext cx="8428991" cy="1581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1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8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96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927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/>
                        </a:rPr>
                        <a:t>Normal Mode</a:t>
                      </a:r>
                      <a:endParaRPr sz="1600" b="1" dirty="0">
                        <a:solidFill>
                          <a:srgbClr val="FFFFFF"/>
                        </a:solidFill>
                        <a:latin typeface="Malgun Gothic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/>
                        </a:rPr>
                        <a:t>K4H4(9/2</a:t>
                      </a:r>
                      <a:r>
                        <a:rPr lang="ko-KR" altLang="en-US" sz="1600" b="1" dirty="0" err="1">
                          <a:solidFill>
                            <a:srgbClr val="FFFFFF"/>
                          </a:solidFill>
                          <a:latin typeface="Malgun Gothic"/>
                        </a:rPr>
                        <a:t>미팅전</a:t>
                      </a:r>
                      <a:r>
                        <a:rPr lang="en-US" altLang="ko-KR" sz="1600" b="1" dirty="0">
                          <a:solidFill>
                            <a:srgbClr val="FFFFFF"/>
                          </a:solidFill>
                          <a:latin typeface="Malgun Gothic"/>
                        </a:rPr>
                        <a:t>)</a:t>
                      </a:r>
                      <a:endParaRPr sz="1600" b="1" dirty="0">
                        <a:solidFill>
                          <a:srgbClr val="FFFFFF"/>
                        </a:solidFill>
                        <a:latin typeface="Malgun Gothic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/>
                        </a:rPr>
                        <a:t>K3H3-E4-M2(9/11</a:t>
                      </a:r>
                      <a:r>
                        <a:rPr lang="ko-KR" altLang="en-US" sz="1600" b="1" dirty="0" err="1">
                          <a:solidFill>
                            <a:srgbClr val="FFFFFF"/>
                          </a:solidFill>
                          <a:latin typeface="Malgun Gothic"/>
                        </a:rPr>
                        <a:t>미팅전</a:t>
                      </a:r>
                      <a:r>
                        <a:rPr lang="en-US" altLang="ko-KR" sz="1600" b="1" dirty="0">
                          <a:solidFill>
                            <a:srgbClr val="FFFFFF"/>
                          </a:solidFill>
                          <a:latin typeface="Malgun Gothic"/>
                        </a:rPr>
                        <a:t>)</a:t>
                      </a:r>
                      <a:endParaRPr sz="1600" b="1" dirty="0">
                        <a:solidFill>
                          <a:srgbClr val="FFFFFF"/>
                        </a:solidFill>
                        <a:latin typeface="Malgun Gothic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26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>
                          <a:solidFill>
                            <a:srgbClr val="0F172A"/>
                          </a:solidFill>
                          <a:latin typeface="Malgun Gothic"/>
                        </a:rPr>
                        <a:t>20,229,755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>
                          <a:solidFill>
                            <a:srgbClr val="0F172A"/>
                          </a:solidFill>
                          <a:latin typeface="Malgun Gothic"/>
                        </a:rPr>
                        <a:t>(Iteration : 14883)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>
                          <a:solidFill>
                            <a:srgbClr val="0F172A"/>
                          </a:solidFill>
                          <a:latin typeface="Malgun Gothic"/>
                        </a:rPr>
                        <a:t>7,796,908</a:t>
                      </a:r>
                      <a:br>
                        <a:rPr lang="en-US" altLang="ko-KR" sz="1600" b="1" dirty="0">
                          <a:solidFill>
                            <a:srgbClr val="0F172A"/>
                          </a:solidFill>
                          <a:latin typeface="Malgun Gothic"/>
                        </a:rPr>
                      </a:br>
                      <a:r>
                        <a:rPr lang="en-US" altLang="ko-KR" sz="1600" b="1" dirty="0">
                          <a:solidFill>
                            <a:srgbClr val="0F172A"/>
                          </a:solidFill>
                          <a:latin typeface="Malgun Gothic"/>
                        </a:rPr>
                        <a:t>(Iteration : 4247)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b="1" dirty="0">
                          <a:solidFill>
                            <a:srgbClr val="0F172A"/>
                          </a:solidFill>
                          <a:latin typeface="Malgun Gothic"/>
                        </a:rPr>
                        <a:t>2,563,403</a:t>
                      </a:r>
                    </a:p>
                    <a:p>
                      <a:pPr algn="ctr"/>
                      <a:r>
                        <a:rPr lang="en-US" altLang="ko-KR" sz="1600" b="1" dirty="0">
                          <a:solidFill>
                            <a:srgbClr val="0F172A"/>
                          </a:solidFill>
                          <a:latin typeface="Malgun Gothic"/>
                        </a:rPr>
                        <a:t>(Iteration : 4457)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CF9256DB-050F-847C-3CBA-02AD3F6E2032}"/>
              </a:ext>
            </a:extLst>
          </p:cNvPr>
          <p:cNvSpPr txBox="1"/>
          <p:nvPr/>
        </p:nvSpPr>
        <p:spPr>
          <a:xfrm>
            <a:off x="1859000" y="4158864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rgbClr val="FF0000"/>
                </a:solidFill>
                <a:latin typeface="Malgun Gothic"/>
              </a:rPr>
              <a:t>250-pair</a:t>
            </a:r>
            <a:r>
              <a:rPr lang="en-US" altLang="ko-KR" sz="1800" b="1" dirty="0">
                <a:solidFill>
                  <a:srgbClr val="0F172A"/>
                </a:solidFill>
                <a:latin typeface="Malgun Gothic"/>
              </a:rPr>
              <a:t> </a:t>
            </a:r>
            <a:r>
              <a:rPr lang="ko-KR" altLang="en-US" sz="1800" b="1" dirty="0">
                <a:solidFill>
                  <a:srgbClr val="0F172A"/>
                </a:solidFill>
                <a:latin typeface="Malgun Gothic"/>
              </a:rPr>
              <a:t>기준 </a:t>
            </a:r>
            <a:r>
              <a:rPr lang="en-US" altLang="ko-KR" sz="1800" b="1" dirty="0">
                <a:solidFill>
                  <a:srgbClr val="0F172A"/>
                </a:solidFill>
                <a:latin typeface="Malgun Gothic"/>
              </a:rPr>
              <a:t>cycle </a:t>
            </a:r>
            <a:r>
              <a:rPr lang="ko-KR" altLang="en-US" sz="1800" b="1" dirty="0">
                <a:solidFill>
                  <a:srgbClr val="0F172A"/>
                </a:solidFill>
                <a:latin typeface="Malgun Gothic"/>
              </a:rPr>
              <a:t>변화</a:t>
            </a:r>
            <a:endParaRPr lang="ko-KR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1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서버에서 볼 위치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12064" y="7772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678"/>
                </a:solidFill>
              </a:rPr>
              <a:t>코드 · 검증 · 결과 파일을 찾는 기준 경로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12064" y="1115568"/>
            <a:ext cx="11155680" cy="0"/>
          </a:xfrm>
          <a:prstGeom prst="line">
            <a:avLst/>
          </a:prstGeom>
          <a:noFill/>
          <a:ln w="10160">
            <a:solidFill>
              <a:srgbClr val="CAD3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</a:rPr>
              <a:t>01_RTL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00400" y="141732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E1726"/>
                </a:solidFill>
              </a:rPr>
              <a:t>core / standalone / RVX adapter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186537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</a:rPr>
              <a:t>02_TB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200400" y="1865376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E1726"/>
                </a:solidFill>
              </a:rPr>
              <a:t>standalone TB, publication TB, K/H isolated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23134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</a:rPr>
              <a:t>03_SW_FW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00400" y="231343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E1726"/>
                </a:solidFill>
              </a:rPr>
              <a:t>host bench, firmware, dataset reference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</a:rPr>
              <a:t>04_BUILD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200400" y="276148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E1726"/>
                </a:solidFill>
              </a:rPr>
              <a:t>standalone/Vivado, RVX, simulation scripts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32095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</a:rPr>
              <a:t>05_EXPERIMENTS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200400" y="3209544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E1726"/>
                </a:solidFill>
              </a:rPr>
              <a:t>board, resource, publication, K/H raw/summary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3657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</a:rPr>
              <a:t>06_REFERENCE_OUTPUTS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200400" y="365760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E1726"/>
                </a:solidFill>
              </a:rPr>
              <a:t>expected CSV, golden summaries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410565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</a:rPr>
              <a:t>07_BOARD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200400" y="4105656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E1726"/>
                </a:solidFill>
              </a:rPr>
              <a:t>bitstream, ELF, board test 자료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" y="45537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</a:rPr>
              <a:t>99_MANIFEST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200400" y="455371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E1726"/>
                </a:solidFill>
              </a:rPr>
              <a:t>SHA, file index, provenance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2960" y="55321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1726"/>
                </a:solidFill>
              </a:rPr>
              <a:t>먼저 열 파일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148840" y="5522976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678"/>
                </a:solidFill>
              </a:rPr>
              <a:t>00_README/README_START_HERE.md   ·   01_RTL/core/   ·   05_EXPERIMENTS/summary   ·   99_MANIFEST/SHA256SUMS.txt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829800" y="65653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794"/>
                </a:solidFill>
              </a:rPr>
              <a:t>Main IP Final v1.3  |  10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956</Words>
  <Application>Microsoft Office PowerPoint</Application>
  <PresentationFormat>와이드스크린</PresentationFormat>
  <Paragraphs>211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Malgun Gothic</vt:lpstr>
      <vt:lpstr>Aptos Display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LPSoC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 IP Final v1.3</dc:title>
  <dc:subject>BBHT/Grover Main IP final handoff</dc:subject>
  <dc:creator>OpenAI</dc:creator>
  <cp:lastModifiedBy>연승 이</cp:lastModifiedBy>
  <cp:revision>3</cp:revision>
  <dcterms:created xsi:type="dcterms:W3CDTF">2026-09-09T16:39:02Z</dcterms:created>
  <dcterms:modified xsi:type="dcterms:W3CDTF">2026-09-09T17:07:44Z</dcterms:modified>
</cp:coreProperties>
</file>